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952A"/>
    <a:srgbClr val="6D28D9"/>
    <a:srgbClr val="64748B"/>
    <a:srgbClr val="648877"/>
    <a:srgbClr val="B91C1C"/>
    <a:srgbClr val="E05A2B"/>
    <a:srgbClr val="0A2240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>
        <p:scale>
          <a:sx n="85" d="100"/>
          <a:sy n="85" d="100"/>
        </p:scale>
        <p:origin x="56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5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piv-lchv_U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3413455" cy="65589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15614" y="146304"/>
            <a:ext cx="8876081" cy="6558991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" y="292608"/>
            <a:ext cx="2879446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" y="3413455"/>
            <a:ext cx="3047695" cy="97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Indian Institute of Technology Guwahati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70332" y="4526280"/>
            <a:ext cx="2663647" cy="4846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" y="4630623"/>
            <a:ext cx="3047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BSc. (Hons.) Data Science &amp; Artificial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Online Degree Programme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5771" y="427025"/>
            <a:ext cx="3047695" cy="46360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3846" y="427025"/>
            <a:ext cx="277063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240"/>
                </a:solidFill>
              </a:rPr>
              <a:t>TERM PROJECT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88106" y="855370"/>
            <a:ext cx="84289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Phoneme Distribution Across Languages: Analysis, Geographic Patterns, and Clustering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609898" y="2624412"/>
            <a:ext cx="8287512" cy="6104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045A1E-609E-FC2A-5E44-9C1704653AA1}"/>
              </a:ext>
            </a:extLst>
          </p:cNvPr>
          <p:cNvGrpSpPr/>
          <p:nvPr/>
        </p:nvGrpSpPr>
        <p:grpSpPr>
          <a:xfrm>
            <a:off x="3640513" y="2247188"/>
            <a:ext cx="8226281" cy="4766870"/>
            <a:chOff x="3561061" y="2477210"/>
            <a:chExt cx="8226281" cy="4766870"/>
          </a:xfrm>
        </p:grpSpPr>
        <p:sp>
          <p:nvSpPr>
            <p:cNvPr id="14" name="Text 11"/>
            <p:cNvSpPr/>
            <p:nvPr/>
          </p:nvSpPr>
          <p:spPr>
            <a:xfrm>
              <a:off x="3561061" y="2477210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Name :</a:t>
              </a:r>
              <a:endParaRPr lang="en-US" sz="20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973188" y="2477210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Nitin Vijay N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561061" y="2952232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ID :</a:t>
              </a:r>
              <a:endParaRPr lang="en-US" sz="2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973188" y="2952232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23035010571</a:t>
              </a:r>
              <a:endParaRPr lang="en-US" sz="20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3561061" y="3426145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Email ID :</a:t>
              </a:r>
              <a:endParaRPr lang="en-US" sz="2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973188" y="3426145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n.nitin@op.iitg.ac.in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561061" y="3901166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Programme :</a:t>
              </a:r>
              <a:endParaRPr lang="en-US" sz="20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973188" y="3901166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BSc. (Hons.) Data Science &amp; AI</a:t>
              </a:r>
              <a:endParaRPr lang="en-US" sz="20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3561061" y="4375079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Code :</a:t>
              </a:r>
              <a:endParaRPr lang="en-US" sz="20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973188" y="4375079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DA378</a:t>
              </a:r>
              <a:endParaRPr lang="en-US" sz="20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3561061" y="4850101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Name :</a:t>
              </a:r>
              <a:endParaRPr lang="en-US" sz="20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973188" y="4850101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Term Project - II</a:t>
              </a:r>
              <a:endParaRPr lang="en-US" sz="20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561061" y="5325124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Trimester :</a:t>
              </a:r>
              <a:endParaRPr lang="en-US" sz="20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973188" y="5325124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IX</a:t>
              </a:r>
              <a:endParaRPr lang="en-US" sz="2000" dirty="0"/>
            </a:p>
          </p:txBody>
        </p:sp>
      </p:grpSp>
      <p:sp>
        <p:nvSpPr>
          <p:cNvPr id="28" name="Rectangle 27">
            <a:hlinkClick r:id="rId4"/>
            <a:extLst>
              <a:ext uri="{FF2B5EF4-FFF2-40B4-BE49-F238E27FC236}">
                <a16:creationId xmlns:a16="http://schemas.microsoft.com/office/drawing/2014/main" id="{15646704-715F-082A-F7B0-6934AE77A23B}"/>
              </a:ext>
            </a:extLst>
          </p:cNvPr>
          <p:cNvSpPr/>
          <p:nvPr/>
        </p:nvSpPr>
        <p:spPr>
          <a:xfrm>
            <a:off x="370332" y="5235388"/>
            <a:ext cx="2480444" cy="9495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hlinkClick r:id="rId4"/>
              </a:rPr>
              <a:t>https://youtu.be/piv-lchv_U0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0:30 – 1:30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</a:rPr>
              <a:t>What problem did we solve?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" y="1572768"/>
            <a:ext cx="3689908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560" y="1572767"/>
            <a:ext cx="3689908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6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No large-scale empirical test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35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</a:rPr>
              <a:t>Greenberg (1963) proposed universals on just 30 languages. No computational pipeline had tested them at scale on 2,000+ languages with modern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1572768"/>
            <a:ext cx="3689908" cy="27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572767"/>
            <a:ext cx="3689908" cy="7357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44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Scattered phoneme data</a:t>
            </a:r>
          </a:p>
        </p:txBody>
      </p:sp>
      <p:sp>
        <p:nvSpPr>
          <p:cNvPr id="16" name="Text 14"/>
          <p:cNvSpPr/>
          <p:nvPr/>
        </p:nvSpPr>
        <p:spPr>
          <a:xfrm>
            <a:off x="42743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PHOIBLE v2.0 aggregates 3,000+ inventories but no analysis pipeline existed to compute cross-linguistic frequencies, pairwise statistics, and geographic groupings.</a:t>
            </a:r>
          </a:p>
        </p:txBody>
      </p:sp>
      <p:sp>
        <p:nvSpPr>
          <p:cNvPr id="17" name="Shape 15"/>
          <p:cNvSpPr/>
          <p:nvPr/>
        </p:nvSpPr>
        <p:spPr>
          <a:xfrm>
            <a:off x="8031480" y="1572768"/>
            <a:ext cx="3690000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31480" y="1572767"/>
            <a:ext cx="3690000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511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No geographic ML analysis</a:t>
            </a:r>
          </a:p>
        </p:txBody>
      </p:sp>
      <p:sp>
        <p:nvSpPr>
          <p:cNvPr id="20" name="Text 18"/>
          <p:cNvSpPr/>
          <p:nvPr/>
        </p:nvSpPr>
        <p:spPr>
          <a:xfrm>
            <a:off x="81351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No study had applied unsupervised K-Means Clustering to test whether phoneme data alone can recover the world’s geographic language regions.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4574032"/>
            <a:ext cx="11521440" cy="185623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8040"/>
            <a:ext cx="3200400" cy="414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Why it matters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5012943"/>
            <a:ext cx="11064240" cy="12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Human speech sounds follow universal patterns shaped by biology and perception. A pipeline that analyses 2,176 languages, computes pairwise statistics, maps geographic patterns, and applies K-Means Clustering to phoneme data is scientifically significant and valuable for linguistics and AI.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Tools &amp; Dataset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1:30 – 2:30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Tech Stack</a:t>
            </a:r>
            <a:endParaRPr lang="en-US" sz="20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1C4C14-7549-3A02-E760-9291FA490F47}"/>
              </a:ext>
            </a:extLst>
          </p:cNvPr>
          <p:cNvGrpSpPr/>
          <p:nvPr/>
        </p:nvGrpSpPr>
        <p:grpSpPr>
          <a:xfrm>
            <a:off x="320039" y="1481328"/>
            <a:ext cx="5623548" cy="5202936"/>
            <a:chOff x="320040" y="1481328"/>
            <a:chExt cx="5532120" cy="3108960"/>
          </a:xfrm>
        </p:grpSpPr>
        <p:sp>
          <p:nvSpPr>
            <p:cNvPr id="9" name="Shape 7"/>
            <p:cNvSpPr/>
            <p:nvPr/>
          </p:nvSpPr>
          <p:spPr>
            <a:xfrm>
              <a:off x="32004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2004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8463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9488"/>
                  </a:solidFill>
                </a:rPr>
                <a:t>Python 3.12</a:t>
              </a:r>
              <a:endParaRPr lang="en-US" sz="1600" dirty="0">
                <a:solidFill>
                  <a:srgbClr val="0D9488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8463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Core language for all phases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15468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31927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pandas + numpy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331927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Data cleaning &amp; processing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0040" y="2286000"/>
              <a:ext cx="91440" cy="694944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8463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A2240"/>
                  </a:solidFill>
                </a:rPr>
                <a:t>scikit-learn</a:t>
              </a:r>
              <a:endParaRPr lang="en-US" sz="1600" dirty="0">
                <a:solidFill>
                  <a:srgbClr val="0A2240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8463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K-Means · Silhouette · Ward linkage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15468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154680" y="2286000"/>
              <a:ext cx="91440" cy="694944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31927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Streamlit + Plotly</a:t>
              </a:r>
              <a:endParaRPr lang="en-US" sz="1600" dirty="0">
                <a:solidFill>
                  <a:srgbClr val="B8952A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31927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Interactive web dashboard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2004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8463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05A2B"/>
                  </a:solidFill>
                </a:rPr>
                <a:t>Folium</a:t>
              </a:r>
              <a:endParaRPr lang="en-US" sz="1600" dirty="0">
                <a:solidFill>
                  <a:srgbClr val="E05A2B"/>
                </a:solidFill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48463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Tone map · Click map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15468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15468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31927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Plotly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331927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64748B"/>
                  </a:solidFill>
                </a:rPr>
                <a:t>Inventory map · Cluster map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004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2004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463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Matplotlib + Seaborn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48463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27 static analysis charts</a:t>
              </a:r>
              <a:endParaRPr lang="en-US" sz="14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15468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315468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31927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64748B"/>
                  </a:solidFill>
                </a:rPr>
                <a:t>stats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331927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64748B"/>
                  </a:solidFill>
                </a:rPr>
                <a:t>Pairwise statistics · Jaccard · Phi coefficient · P(B|A)</a:t>
              </a:r>
              <a:endParaRPr lang="en-US" sz="140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6080760" y="1005840"/>
            <a:ext cx="0" cy="56880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024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Datasets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263640" y="1481328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1481328"/>
            <a:ext cx="5623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5910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</a:rPr>
              <a:t>PHOIBLE v2.0 (phoible.org)</a:t>
            </a:r>
          </a:p>
        </p:txBody>
      </p:sp>
      <p:sp>
        <p:nvSpPr>
          <p:cNvPr id="46" name="Text 44"/>
          <p:cNvSpPr/>
          <p:nvPr/>
        </p:nvSpPr>
        <p:spPr>
          <a:xfrm>
            <a:off x="644652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2,176 languages · 177 families · 6 macroareas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4652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2,721 unique phonemes across all inventories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829800" y="1992269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29800" y="1992269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76,327 rows (deduplicated)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63640" y="3041904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041904"/>
            <a:ext cx="562356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15163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CLDF PHOIBLE languages.csv</a:t>
            </a:r>
          </a:p>
        </p:txBody>
      </p:sp>
      <p:sp>
        <p:nvSpPr>
          <p:cNvPr id="53" name="Text 51"/>
          <p:cNvSpPr/>
          <p:nvPr/>
        </p:nvSpPr>
        <p:spPr>
          <a:xfrm>
            <a:off x="6446520" y="3544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Glottolog geographic metadata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46520" y="3819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Macroarea, latitude, longitude, family name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829800" y="3544824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29800" y="3544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2,176 rows (one per language)</a:t>
            </a:r>
            <a:endParaRPr lang="en-US" sz="1400" dirty="0"/>
          </a:p>
        </p:txBody>
      </p:sp>
      <p:sp>
        <p:nvSpPr>
          <p:cNvPr id="5" name="Shape 62"/>
          <p:cNvSpPr/>
          <p:nvPr/>
        </p:nvSpPr>
        <p:spPr>
          <a:xfrm>
            <a:off x="6263640" y="6208776"/>
            <a:ext cx="5623560" cy="47548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7" name="Text 63"/>
          <p:cNvSpPr/>
          <p:nvPr/>
        </p:nvSpPr>
        <p:spPr>
          <a:xfrm>
            <a:off x="6263640" y="6198616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</a:rPr>
              <a:t>Total: 2,176 languages · 2,721 phonemes · 177 families</a:t>
            </a:r>
            <a:endParaRPr lang="en-US" sz="160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AA8B47C7-F98C-50E7-821A-2EAC6EA65E13}"/>
              </a:ext>
            </a:extLst>
          </p:cNvPr>
          <p:cNvSpPr/>
          <p:nvPr/>
        </p:nvSpPr>
        <p:spPr>
          <a:xfrm>
            <a:off x="6263640" y="4602480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1259A040-0C02-29AA-3853-936FD5BC526B}"/>
              </a:ext>
            </a:extLst>
          </p:cNvPr>
          <p:cNvSpPr/>
          <p:nvPr/>
        </p:nvSpPr>
        <p:spPr>
          <a:xfrm>
            <a:off x="6263640" y="4602480"/>
            <a:ext cx="562356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FFF06624-7D86-E502-732C-79287294CFE4}"/>
              </a:ext>
            </a:extLst>
          </p:cNvPr>
          <p:cNvSpPr/>
          <p:nvPr/>
        </p:nvSpPr>
        <p:spPr>
          <a:xfrm>
            <a:off x="6446520" y="47122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05A2B"/>
                </a:solidFill>
              </a:rPr>
              <a:t>Key derived tables</a:t>
            </a:r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2CBDC1A3-72B1-5F2F-62DA-BB3CE915A145}"/>
              </a:ext>
            </a:extLst>
          </p:cNvPr>
          <p:cNvSpPr/>
          <p:nvPr/>
        </p:nvSpPr>
        <p:spPr>
          <a:xfrm>
            <a:off x="6446520" y="5105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Co-occurrence matrix, Jaccard matrix</a:t>
            </a:r>
            <a:endParaRPr lang="en-US" sz="14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3C36DCD0-DAB0-20DE-FC90-E00CFCA2F27D}"/>
              </a:ext>
            </a:extLst>
          </p:cNvPr>
          <p:cNvSpPr/>
          <p:nvPr/>
        </p:nvSpPr>
        <p:spPr>
          <a:xfrm>
            <a:off x="6446520" y="5379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Phi coefficient matrix, Cluster assignments</a:t>
            </a:r>
            <a:endParaRPr lang="en-US" sz="1400" dirty="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FEFEEDD3-EC0D-215A-8861-938A49D1918F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C2C3CECC-3AC7-78EB-D903-42BA674BB1A4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 analysis tables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Code Walkthrough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2:30 – 5:00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B2FCA5-7453-1FDC-087E-CF61666DC360}"/>
              </a:ext>
            </a:extLst>
          </p:cNvPr>
          <p:cNvGrpSpPr/>
          <p:nvPr/>
        </p:nvGrpSpPr>
        <p:grpSpPr>
          <a:xfrm>
            <a:off x="78232" y="1920240"/>
            <a:ext cx="12012168" cy="3950208"/>
            <a:chOff x="292608" y="1444752"/>
            <a:chExt cx="11704320" cy="3529584"/>
          </a:xfrm>
        </p:grpSpPr>
        <p:sp>
          <p:nvSpPr>
            <p:cNvPr id="9" name="Shape 7"/>
            <p:cNvSpPr/>
            <p:nvPr/>
          </p:nvSpPr>
          <p:spPr>
            <a:xfrm>
              <a:off x="29260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9260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0233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233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1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1440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Data Ingestion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40233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01_download_data.py · PHOIBLE v2.0 · 23.4 MB from GitHub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22452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422452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33425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33425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2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4632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Cleaning &amp; Dedup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433425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03_clean_data.py · marginal removal · Glottocode merge · 2,176 languages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15644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8156448" y="1444752"/>
              <a:ext cx="3840480" cy="64008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26617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26617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3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7824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2240"/>
                  </a:solidFill>
                </a:rPr>
                <a:t>Frequency Analysis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826617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04_frequency_analysis.py · cross-linguistic f(p) · 2,721 phonemes ranked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29260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0233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0233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4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1440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Geographic &amp; Family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40233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06_geographic_analysis.py · 6 macroareas · 177 families · inventory stats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22452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22452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33425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3425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5</a:t>
              </a:r>
              <a:endParaRPr lang="en-US" sz="13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4632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Pairwise Statistics</a:t>
              </a:r>
            </a:p>
          </p:txBody>
        </p:sp>
        <p:sp>
          <p:nvSpPr>
            <p:cNvPr id="38" name="Text 36"/>
            <p:cNvSpPr/>
            <p:nvPr/>
          </p:nvSpPr>
          <p:spPr>
            <a:xfrm>
              <a:off x="433425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08_pairwise_statistics.py · Jaccard · Phi · P(B|A) · 5,253 pairs</a:t>
              </a:r>
              <a:endParaRPr lang="en-US" sz="14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15644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8156448" y="2651760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826617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826617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6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77824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Interpretation &amp; Dashboard</a:t>
              </a:r>
            </a:p>
          </p:txBody>
        </p:sp>
        <p:sp>
          <p:nvSpPr>
            <p:cNvPr id="44" name="Text 42"/>
            <p:cNvSpPr/>
            <p:nvPr/>
          </p:nvSpPr>
          <p:spPr>
            <a:xfrm>
              <a:off x="826617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10_interpretation_report.py + app.py · 6-tab Streamlit · Plotly + Folium</a:t>
              </a:r>
              <a:endParaRPr lang="en-US" sz="14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6" name="Shape 44"/>
            <p:cNvSpPr/>
            <p:nvPr/>
          </p:nvSpPr>
          <p:spPr>
            <a:xfrm>
              <a:off x="292608" y="3858768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40233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40233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7</a:t>
              </a:r>
              <a:endParaRPr lang="en-US" sz="13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91440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K-Means Clustering</a:t>
              </a:r>
            </a:p>
          </p:txBody>
        </p:sp>
        <p:sp>
          <p:nvSpPr>
            <p:cNvPr id="50" name="Text 48"/>
            <p:cNvSpPr/>
            <p:nvPr/>
          </p:nvSpPr>
          <p:spPr>
            <a:xfrm>
              <a:off x="40233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12_clustering.py · K=10 · silhouette · Ward linkage · 100% AU purity</a:t>
              </a:r>
              <a:endParaRPr lang="en-US" sz="1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22452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4224528" y="3858768"/>
              <a:ext cx="3840480" cy="6400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433425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33425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8</a:t>
              </a:r>
              <a:endParaRPr lang="en-US" sz="13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84632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D28D9"/>
                  </a:solidFill>
                </a:rPr>
                <a:t>Visualizations</a:t>
              </a:r>
              <a:endParaRPr lang="en-US" sz="1600" dirty="0">
                <a:solidFill>
                  <a:srgbClr val="6D28D9"/>
                </a:solidFill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433425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05/07/09/11/13_visualize_*.py · 27 static + 12 interactive charts</a:t>
              </a:r>
              <a:endParaRPr lang="en-US" sz="14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815644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8" name="Shape 56"/>
            <p:cNvSpPr/>
            <p:nvPr/>
          </p:nvSpPr>
          <p:spPr>
            <a:xfrm>
              <a:off x="8156448" y="3858768"/>
              <a:ext cx="3840480" cy="64008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26617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826617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9</a:t>
              </a:r>
              <a:endParaRPr lang="en-US" sz="13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877824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IEEE Report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826617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4-page IEEE format · 8 references · all phases documented</a:t>
              </a:r>
              <a:endParaRPr lang="en-US" sz="1400" dirty="0"/>
            </a:p>
          </p:txBody>
        </p:sp>
      </p:grpSp>
      <p:sp>
        <p:nvSpPr>
          <p:cNvPr id="64" name="Text 6">
            <a:extLst>
              <a:ext uri="{FF2B5EF4-FFF2-40B4-BE49-F238E27FC236}">
                <a16:creationId xmlns:a16="http://schemas.microsoft.com/office/drawing/2014/main" id="{9E2F4D66-FD2E-8663-64CE-633DC34D688A}"/>
              </a:ext>
            </a:extLst>
          </p:cNvPr>
          <p:cNvSpPr/>
          <p:nvPr/>
        </p:nvSpPr>
        <p:spPr>
          <a:xfrm>
            <a:off x="179832" y="121907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240"/>
                </a:solidFill>
              </a:rPr>
              <a:t>Project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Live Demo — Streamlit Dashboard &amp; World Maps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76311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Streamlit Dashboard  —  streamlit run dashboard/app.py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63640" y="1248878"/>
            <a:ext cx="0" cy="4836961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276311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4 Interactive World Maps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D191AC-0783-2F02-787B-9D600D20CDFA}"/>
              </a:ext>
            </a:extLst>
          </p:cNvPr>
          <p:cNvGrpSpPr/>
          <p:nvPr/>
        </p:nvGrpSpPr>
        <p:grpSpPr>
          <a:xfrm>
            <a:off x="6400799" y="1706079"/>
            <a:ext cx="5648945" cy="4379760"/>
            <a:chOff x="6400800" y="1706079"/>
            <a:chExt cx="5486400" cy="3108960"/>
          </a:xfrm>
        </p:grpSpPr>
        <p:sp>
          <p:nvSpPr>
            <p:cNvPr id="32" name="Shape 30"/>
            <p:cNvSpPr/>
            <p:nvPr/>
          </p:nvSpPr>
          <p:spPr>
            <a:xfrm>
              <a:off x="6400800" y="1706079"/>
              <a:ext cx="54864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6400800" y="1706079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565392" y="1751799"/>
              <a:ext cx="52120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D9488"/>
                  </a:solidFill>
                </a:rPr>
                <a:t>Inventory Size Map (Plotly)</a:t>
              </a:r>
            </a:p>
          </p:txBody>
        </p:sp>
        <p:sp>
          <p:nvSpPr>
            <p:cNvPr id="35" name="Text 33"/>
            <p:cNvSpPr/>
            <p:nvPr/>
          </p:nvSpPr>
          <p:spPr>
            <a:xfrm>
              <a:off x="6565392" y="2071839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scatter_geo · each dot = 1 language · coloured &amp; sized by total phonemes</a:t>
              </a:r>
              <a:endParaRPr lang="en-US" sz="12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400800" y="2510751"/>
              <a:ext cx="54864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6400800" y="2510751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6565392" y="2556471"/>
              <a:ext cx="52120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E05A2B"/>
                  </a:solidFill>
                </a:rPr>
                <a:t>Tonal Languages Map (Folium)</a:t>
              </a:r>
            </a:p>
          </p:txBody>
        </p:sp>
        <p:sp>
          <p:nvSpPr>
            <p:cNvPr id="39" name="Text 37"/>
            <p:cNvSpPr/>
            <p:nvPr/>
          </p:nvSpPr>
          <p:spPr>
            <a:xfrm>
              <a:off x="6565392" y="2876511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Red = tonal / Blue = non-tonal · clickable popup per language · Africa dominates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400800" y="3315423"/>
              <a:ext cx="54864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400800" y="3315423"/>
              <a:ext cx="91440" cy="694944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6565392" y="3361143"/>
              <a:ext cx="52120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B8952A"/>
                  </a:solidFill>
                </a:rPr>
                <a:t>Click Languages Map (Folium)</a:t>
              </a:r>
            </a:p>
          </p:txBody>
        </p:sp>
        <p:sp>
          <p:nvSpPr>
            <p:cNvPr id="43" name="Text 41"/>
            <p:cNvSpPr/>
            <p:nvPr/>
          </p:nvSpPr>
          <p:spPr>
            <a:xfrm>
              <a:off x="6565392" y="3681183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16 click languages highlighted in red · 100% African restriction visible</a:t>
              </a:r>
              <a:endParaRPr lang="en-US" sz="12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400800" y="4120095"/>
              <a:ext cx="54864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6400800" y="4120095"/>
              <a:ext cx="91440" cy="694944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6565392" y="4165815"/>
              <a:ext cx="52120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B91C1C"/>
                  </a:solidFill>
                </a:rPr>
                <a:t>Cluster World Map (Plotly)</a:t>
              </a:r>
              <a:endParaRPr lang="en-US" sz="1400" dirty="0">
                <a:solidFill>
                  <a:srgbClr val="B91C1C"/>
                </a:solidFill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565392" y="4485855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10 cluster colours · Australian cluster = pink island · geographic coherence</a:t>
              </a:r>
              <a:endParaRPr lang="en-US" sz="1200" dirty="0"/>
            </a:p>
          </p:txBody>
        </p:sp>
      </p:grpSp>
      <p:sp>
        <p:nvSpPr>
          <p:cNvPr id="52" name="Shape 50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52A"/>
                </a:solidFill>
              </a:rPr>
              <a:t>Run: streamlit run dashboard/app.py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F73503F-DEB9-B7DD-7ED5-614C8C6B4D20}"/>
              </a:ext>
            </a:extLst>
          </p:cNvPr>
          <p:cNvGrpSpPr/>
          <p:nvPr/>
        </p:nvGrpSpPr>
        <p:grpSpPr>
          <a:xfrm>
            <a:off x="292607" y="1706080"/>
            <a:ext cx="5859476" cy="4378529"/>
            <a:chOff x="292606" y="1706079"/>
            <a:chExt cx="5971035" cy="4507445"/>
          </a:xfrm>
        </p:grpSpPr>
        <p:sp>
          <p:nvSpPr>
            <p:cNvPr id="10" name="Shape 8"/>
            <p:cNvSpPr/>
            <p:nvPr/>
          </p:nvSpPr>
          <p:spPr>
            <a:xfrm>
              <a:off x="292606" y="1706079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87384" y="1833420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87384" y="1833420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0D9488"/>
                  </a:solidFill>
                </a:rPr>
                <a:t>Tab 1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1164566" y="1762675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Overview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1164566" y="2059805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Top 10 phonemes · class pie · Zipfian histogram · frequency table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2606" y="2470127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87384" y="2597468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87384" y="2597468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E05A2B"/>
                  </a:solidFill>
                </a:rPr>
                <a:t>Tab 2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1164566" y="2526723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Frequency Explorer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1164566" y="2823852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Adjustable top-N slider · per-class bars · rank-vs-frequency scatter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92606" y="3234174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87384" y="3361516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87384" y="3361516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8952A"/>
                  </a:solidFill>
                </a:rPr>
                <a:t>Tab 3</a:t>
              </a:r>
            </a:p>
          </p:txBody>
        </p:sp>
        <p:sp>
          <p:nvSpPr>
            <p:cNvPr id="23" name="Text 21"/>
            <p:cNvSpPr/>
            <p:nvPr/>
          </p:nvSpPr>
          <p:spPr>
            <a:xfrm>
              <a:off x="1164566" y="3290770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Regional Analysis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1164566" y="3587900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Inventory by macroarea · tone/click bars · class stacked · box plots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92606" y="3998222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87384" y="4125563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87384" y="4125563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91C1C"/>
                  </a:solidFill>
                </a:rPr>
                <a:t>Tab 4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1164566" y="4054818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91C1C"/>
                  </a:solidFill>
                </a:rPr>
                <a:t>Language Families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164566" y="4351948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Top 20 families · heatmap · bottom 10 · sortable table</a:t>
              </a:r>
              <a:endParaRPr lang="en-US" sz="1200" dirty="0"/>
            </a:p>
          </p:txBody>
        </p:sp>
        <p:sp>
          <p:nvSpPr>
            <p:cNvPr id="55" name="Shape 23">
              <a:extLst>
                <a:ext uri="{FF2B5EF4-FFF2-40B4-BE49-F238E27FC236}">
                  <a16:creationId xmlns:a16="http://schemas.microsoft.com/office/drawing/2014/main" id="{F46F5037-5A6E-62A4-E6B1-5F8B37FC6BAD}"/>
                </a:ext>
              </a:extLst>
            </p:cNvPr>
            <p:cNvSpPr/>
            <p:nvPr/>
          </p:nvSpPr>
          <p:spPr>
            <a:xfrm>
              <a:off x="292608" y="4758817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57" name="Shape 24">
              <a:extLst>
                <a:ext uri="{FF2B5EF4-FFF2-40B4-BE49-F238E27FC236}">
                  <a16:creationId xmlns:a16="http://schemas.microsoft.com/office/drawing/2014/main" id="{A3DEAA58-724B-B420-160A-2DBF4453A5FA}"/>
                </a:ext>
              </a:extLst>
            </p:cNvPr>
            <p:cNvSpPr/>
            <p:nvPr/>
          </p:nvSpPr>
          <p:spPr>
            <a:xfrm>
              <a:off x="387386" y="4886158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59" name="Text 25">
              <a:extLst>
                <a:ext uri="{FF2B5EF4-FFF2-40B4-BE49-F238E27FC236}">
                  <a16:creationId xmlns:a16="http://schemas.microsoft.com/office/drawing/2014/main" id="{6F86DEA5-02DD-3410-5AC4-94439CE3DFC5}"/>
                </a:ext>
              </a:extLst>
            </p:cNvPr>
            <p:cNvSpPr/>
            <p:nvPr/>
          </p:nvSpPr>
          <p:spPr>
            <a:xfrm>
              <a:off x="387386" y="4886158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6D28D9"/>
                  </a:solidFill>
                </a:rPr>
                <a:t>Tab</a:t>
              </a:r>
              <a:r>
                <a:rPr lang="en-US" sz="1400" b="1" dirty="0">
                  <a:solidFill>
                    <a:srgbClr val="0A2240"/>
                  </a:solidFill>
                </a:rPr>
                <a:t> </a:t>
              </a:r>
              <a:r>
                <a:rPr lang="en-US" sz="1400" b="1" dirty="0">
                  <a:solidFill>
                    <a:srgbClr val="6D28D9"/>
                  </a:solidFill>
                </a:rPr>
                <a:t>5</a:t>
              </a:r>
            </a:p>
          </p:txBody>
        </p:sp>
        <p:sp>
          <p:nvSpPr>
            <p:cNvPr id="61" name="Text 26">
              <a:extLst>
                <a:ext uri="{FF2B5EF4-FFF2-40B4-BE49-F238E27FC236}">
                  <a16:creationId xmlns:a16="http://schemas.microsoft.com/office/drawing/2014/main" id="{10F6B717-F91F-7B1A-0C0F-CC3EE175F66F}"/>
                </a:ext>
              </a:extLst>
            </p:cNvPr>
            <p:cNvSpPr/>
            <p:nvPr/>
          </p:nvSpPr>
          <p:spPr>
            <a:xfrm>
              <a:off x="1164568" y="4815413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6D28D9"/>
                  </a:solidFill>
                </a:rPr>
                <a:t>World</a:t>
              </a:r>
              <a:r>
                <a:rPr lang="en-US" sz="1600" b="1" dirty="0">
                  <a:solidFill>
                    <a:srgbClr val="B91C1C"/>
                  </a:solidFill>
                </a:rPr>
                <a:t> </a:t>
              </a:r>
              <a:r>
                <a:rPr lang="en-US" sz="1600" b="1" dirty="0">
                  <a:solidFill>
                    <a:srgbClr val="6D28D9"/>
                  </a:solidFill>
                </a:rPr>
                <a:t>Maps</a:t>
              </a:r>
            </a:p>
          </p:txBody>
        </p:sp>
        <p:sp>
          <p:nvSpPr>
            <p:cNvPr id="63" name="Text 27">
              <a:extLst>
                <a:ext uri="{FF2B5EF4-FFF2-40B4-BE49-F238E27FC236}">
                  <a16:creationId xmlns:a16="http://schemas.microsoft.com/office/drawing/2014/main" id="{3493A57D-5652-8ADE-2347-345C03381D1D}"/>
                </a:ext>
              </a:extLst>
            </p:cNvPr>
            <p:cNvSpPr/>
            <p:nvPr/>
          </p:nvSpPr>
          <p:spPr>
            <a:xfrm>
              <a:off x="1164568" y="5112543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Inventory size · tonal languages · click languages</a:t>
              </a:r>
              <a:endParaRPr lang="en-US" sz="1200" dirty="0"/>
            </a:p>
          </p:txBody>
        </p:sp>
        <p:sp>
          <p:nvSpPr>
            <p:cNvPr id="65" name="Shape 23">
              <a:extLst>
                <a:ext uri="{FF2B5EF4-FFF2-40B4-BE49-F238E27FC236}">
                  <a16:creationId xmlns:a16="http://schemas.microsoft.com/office/drawing/2014/main" id="{190D5AD9-D3A0-521F-9DC0-78C5C457B93D}"/>
                </a:ext>
              </a:extLst>
            </p:cNvPr>
            <p:cNvSpPr/>
            <p:nvPr/>
          </p:nvSpPr>
          <p:spPr>
            <a:xfrm>
              <a:off x="292606" y="5541445"/>
              <a:ext cx="5971033" cy="672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67" name="Shape 24">
              <a:extLst>
                <a:ext uri="{FF2B5EF4-FFF2-40B4-BE49-F238E27FC236}">
                  <a16:creationId xmlns:a16="http://schemas.microsoft.com/office/drawing/2014/main" id="{21DC39E9-4116-0BFF-F555-482758DC6A6C}"/>
                </a:ext>
              </a:extLst>
            </p:cNvPr>
            <p:cNvSpPr/>
            <p:nvPr/>
          </p:nvSpPr>
          <p:spPr>
            <a:xfrm>
              <a:off x="387384" y="5668786"/>
              <a:ext cx="682404" cy="389098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69" name="Text 25">
              <a:extLst>
                <a:ext uri="{FF2B5EF4-FFF2-40B4-BE49-F238E27FC236}">
                  <a16:creationId xmlns:a16="http://schemas.microsoft.com/office/drawing/2014/main" id="{BC509287-4058-6C1B-1145-3CA6224214C4}"/>
                </a:ext>
              </a:extLst>
            </p:cNvPr>
            <p:cNvSpPr/>
            <p:nvPr/>
          </p:nvSpPr>
          <p:spPr>
            <a:xfrm>
              <a:off x="387384" y="5668786"/>
              <a:ext cx="682404" cy="389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64748B"/>
                  </a:solidFill>
                </a:rPr>
                <a:t>Tab</a:t>
              </a:r>
              <a:r>
                <a:rPr lang="en-US" sz="1400" b="1" dirty="0">
                  <a:solidFill>
                    <a:srgbClr val="B91C1C"/>
                  </a:solidFill>
                </a:rPr>
                <a:t> </a:t>
              </a:r>
              <a:r>
                <a:rPr lang="en-US" sz="1400" b="1" dirty="0">
                  <a:solidFill>
                    <a:srgbClr val="64748B"/>
                  </a:solidFill>
                </a:rPr>
                <a:t>6</a:t>
              </a:r>
            </a:p>
          </p:txBody>
        </p:sp>
        <p:sp>
          <p:nvSpPr>
            <p:cNvPr id="71" name="Text 26">
              <a:extLst>
                <a:ext uri="{FF2B5EF4-FFF2-40B4-BE49-F238E27FC236}">
                  <a16:creationId xmlns:a16="http://schemas.microsoft.com/office/drawing/2014/main" id="{75C5114B-545F-E840-8285-F0DA0CCA43D4}"/>
                </a:ext>
              </a:extLst>
            </p:cNvPr>
            <p:cNvSpPr/>
            <p:nvPr/>
          </p:nvSpPr>
          <p:spPr>
            <a:xfrm>
              <a:off x="1164566" y="5598041"/>
              <a:ext cx="4928472" cy="268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64748B"/>
                  </a:solidFill>
                </a:rPr>
                <a:t>Clustering</a:t>
              </a:r>
            </a:p>
          </p:txBody>
        </p:sp>
        <p:sp>
          <p:nvSpPr>
            <p:cNvPr id="73" name="Text 27">
              <a:extLst>
                <a:ext uri="{FF2B5EF4-FFF2-40B4-BE49-F238E27FC236}">
                  <a16:creationId xmlns:a16="http://schemas.microsoft.com/office/drawing/2014/main" id="{356B2F2E-FF53-241F-3594-F1B785D31A93}"/>
                </a:ext>
              </a:extLst>
            </p:cNvPr>
            <p:cNvSpPr/>
            <p:nvPr/>
          </p:nvSpPr>
          <p:spPr>
            <a:xfrm>
              <a:off x="1164566" y="5895171"/>
              <a:ext cx="4928472" cy="247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Silhouette score vs K · cluster sizes · world map · cluster purity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Frequency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024128"/>
            <a:ext cx="283464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2B"/>
                </a:solidFill>
              </a:rPr>
              <a:t>96.7%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/m/ · most universal phoneme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91256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1256" y="1024128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91256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phonemes in &gt;50% of languages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024128"/>
            <a:ext cx="2834640" cy="64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240"/>
                </a:solidFill>
              </a:rPr>
              <a:t>1,444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9904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phonemes in exactly ONE language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88552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88552" y="1024128"/>
            <a:ext cx="283464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952A"/>
                </a:solidFill>
              </a:rPr>
              <a:t>2,721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88552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total unique phonemes found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2128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Top 10 Phonemes Globally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082280" y="2240280"/>
            <a:ext cx="1965960" cy="26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Zipfian Distribution</a:t>
            </a: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292608" y="5687568"/>
            <a:ext cx="11612880" cy="86868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" y="5724144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Key insight: /m/ appears in 96.7% of 2,176 languages — the most universal sound. Only 18 phonemes exceed 50% frequency. 1,444 phonemes (53%) appear in exactly ONE language, confirming a Zipfian power-law. Consonants = 63.6%, Vowels = 34.4%, Tones = 2% of all 2,721 phonemes.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BD12CF-275A-2332-86B8-2A75E630F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3" y="2560321"/>
            <a:ext cx="5867025" cy="29900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33D5CF5-B167-F538-DCE1-9F9922390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60321"/>
            <a:ext cx="5577840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Geographic &amp; Pairwise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19" y="371083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Tone &amp; Click Phonemes by Macro area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89320" y="102412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Key findings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F35409-F964-3491-ED3C-E45751D9613D}"/>
              </a:ext>
            </a:extLst>
          </p:cNvPr>
          <p:cNvGrpSpPr/>
          <p:nvPr/>
        </p:nvGrpSpPr>
        <p:grpSpPr>
          <a:xfrm>
            <a:off x="5989319" y="1426465"/>
            <a:ext cx="6080513" cy="2199028"/>
            <a:chOff x="5989320" y="1426464"/>
            <a:chExt cx="5993892" cy="249595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5AD87F-9432-1886-909C-D068F7B236F1}"/>
                </a:ext>
              </a:extLst>
            </p:cNvPr>
            <p:cNvGrpSpPr/>
            <p:nvPr/>
          </p:nvGrpSpPr>
          <p:grpSpPr>
            <a:xfrm>
              <a:off x="5989320" y="1426464"/>
              <a:ext cx="5989320" cy="722376"/>
              <a:chOff x="5989320" y="1426464"/>
              <a:chExt cx="5897880" cy="107899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5989320" y="1426464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2" name="Shape 9"/>
              <p:cNvSpPr/>
              <p:nvPr/>
            </p:nvSpPr>
            <p:spPr>
              <a:xfrm>
                <a:off x="5989320" y="1426464"/>
                <a:ext cx="5897880" cy="64008"/>
              </a:xfrm>
              <a:prstGeom prst="rect">
                <a:avLst/>
              </a:prstGeom>
              <a:solidFill>
                <a:srgbClr val="E05A2B"/>
              </a:solidFill>
              <a:ln w="12700">
                <a:solidFill>
                  <a:srgbClr val="E05A2B"/>
                </a:solidFill>
                <a:prstDash val="solid"/>
              </a:ln>
            </p:spPr>
          </p:sp>
          <p:sp>
            <p:nvSpPr>
              <p:cNvPr id="13" name="Text 10"/>
              <p:cNvSpPr/>
              <p:nvPr/>
            </p:nvSpPr>
            <p:spPr>
              <a:xfrm>
                <a:off x="6144768" y="1536192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E05A2B"/>
                    </a:solidFill>
                  </a:rPr>
                  <a:t>64.6%</a:t>
                </a:r>
                <a:endParaRPr lang="en-US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7333488" y="1536192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E05A2B"/>
                    </a:solidFill>
                  </a:rPr>
                  <a:t>Africa tonal languages</a:t>
                </a:r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6144768" y="2084832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64.6% of African languages are tonal. Australia: 0%. Sharpest areal contrast in the dataset.</a:t>
                </a:r>
                <a:endParaRPr lang="en-US" sz="12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CBE90F1-B29C-9828-6D20-30CD7E325BFB}"/>
                </a:ext>
              </a:extLst>
            </p:cNvPr>
            <p:cNvGrpSpPr/>
            <p:nvPr/>
          </p:nvGrpSpPr>
          <p:grpSpPr>
            <a:xfrm>
              <a:off x="5989320" y="2240601"/>
              <a:ext cx="5993892" cy="795528"/>
              <a:chOff x="5989320" y="2633472"/>
              <a:chExt cx="5897880" cy="1078992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5989320" y="2633472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7" name="Shape 14"/>
              <p:cNvSpPr/>
              <p:nvPr/>
            </p:nvSpPr>
            <p:spPr>
              <a:xfrm>
                <a:off x="5989320" y="2633472"/>
                <a:ext cx="5897880" cy="64008"/>
              </a:xfrm>
              <a:prstGeom prst="rect">
                <a:avLst/>
              </a:prstGeom>
              <a:solidFill>
                <a:srgbClr val="0D9488"/>
              </a:solidFill>
              <a:ln w="12700">
                <a:solidFill>
                  <a:srgbClr val="0D9488"/>
                </a:solidFill>
                <a:prstDash val="solid"/>
              </a:ln>
            </p:spPr>
          </p:sp>
          <p:sp>
            <p:nvSpPr>
              <p:cNvPr id="18" name="Text 15"/>
              <p:cNvSpPr/>
              <p:nvPr/>
            </p:nvSpPr>
            <p:spPr>
              <a:xfrm>
                <a:off x="6144768" y="2743200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D9488"/>
                    </a:solidFill>
                  </a:rPr>
                  <a:t>100%</a:t>
                </a:r>
                <a:endParaRPr lang="en-US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7333488" y="2743200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0D9488"/>
                    </a:solidFill>
                  </a:rPr>
                  <a:t>Clicks restricted to Africa only</a:t>
                </a: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6144768" y="3291840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Zero non-African languages have click phonemes across all 2,176 languages. Absolute geographic restriction.</a:t>
                </a:r>
                <a:endParaRPr lang="en-US" sz="12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68B1B4D-3894-EAE6-4AA9-3CC832A1F1B4}"/>
                </a:ext>
              </a:extLst>
            </p:cNvPr>
            <p:cNvGrpSpPr/>
            <p:nvPr/>
          </p:nvGrpSpPr>
          <p:grpSpPr>
            <a:xfrm>
              <a:off x="5989320" y="3132989"/>
              <a:ext cx="5993892" cy="789432"/>
              <a:chOff x="5989320" y="3840480"/>
              <a:chExt cx="5897880" cy="1078992"/>
            </a:xfrm>
          </p:grpSpPr>
          <p:sp>
            <p:nvSpPr>
              <p:cNvPr id="21" name="Shape 18"/>
              <p:cNvSpPr/>
              <p:nvPr/>
            </p:nvSpPr>
            <p:spPr>
              <a:xfrm>
                <a:off x="5989320" y="3840480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22" name="Shape 19"/>
              <p:cNvSpPr/>
              <p:nvPr/>
            </p:nvSpPr>
            <p:spPr>
              <a:xfrm>
                <a:off x="5989320" y="3840480"/>
                <a:ext cx="5897880" cy="64008"/>
              </a:xfrm>
              <a:prstGeom prst="rect">
                <a:avLst/>
              </a:prstGeom>
              <a:solidFill>
                <a:srgbClr val="B8952A"/>
              </a:solidFill>
              <a:ln w="12700">
                <a:solidFill>
                  <a:srgbClr val="B8952A"/>
                </a:solidFill>
                <a:prstDash val="solid"/>
              </a:ln>
            </p:spPr>
          </p:sp>
          <p:sp>
            <p:nvSpPr>
              <p:cNvPr id="23" name="Text 20"/>
              <p:cNvSpPr/>
              <p:nvPr/>
            </p:nvSpPr>
            <p:spPr>
              <a:xfrm>
                <a:off x="6144768" y="3950208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B8952A"/>
                    </a:solidFill>
                  </a:rPr>
                  <a:t>J=0.960</a:t>
                </a:r>
                <a:endParaRPr lang="en-US" dirty="0"/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7333488" y="3950208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B8952A"/>
                    </a:solidFill>
                  </a:rPr>
                  <a:t>Jaccard: high/low tone pair</a:t>
                </a:r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6144768" y="4498848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J=0.960 — tonal languages always contrast ≥2 levels. Vowel pair /i/&amp;/u/: J=0.932 (vowel dispersion).</a:t>
                </a:r>
                <a:endParaRPr lang="en-US" sz="1200" dirty="0"/>
              </a:p>
            </p:txBody>
          </p:sp>
        </p:grpSp>
      </p:grpSp>
      <p:sp>
        <p:nvSpPr>
          <p:cNvPr id="26" name="Text 23"/>
          <p:cNvSpPr/>
          <p:nvPr/>
        </p:nvSpPr>
        <p:spPr>
          <a:xfrm>
            <a:off x="142240" y="999489"/>
            <a:ext cx="6038088" cy="636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139 phoneme pairs with P(B|A) ≥ 0.90 — empirical Greenbergian universals confirmed at 2,176-language scale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884C86-D1CF-68C6-3178-4B4AC9A53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1" y="4040014"/>
            <a:ext cx="6080512" cy="270050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14133F-2360-830D-DC2A-64F8F0471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1635928"/>
            <a:ext cx="5812752" cy="5104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K-Means Clustering — What the Numbers Mean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7:30 – 9:00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10927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Cluster Purity Heatmap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92608" y="43159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Silhouette vs K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492240" y="10789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How to interpret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81BCC9-A6D6-ABAB-F63E-9290B6916076}"/>
              </a:ext>
            </a:extLst>
          </p:cNvPr>
          <p:cNvGrpSpPr/>
          <p:nvPr/>
        </p:nvGrpSpPr>
        <p:grpSpPr>
          <a:xfrm>
            <a:off x="6492240" y="1507237"/>
            <a:ext cx="5394960" cy="5126735"/>
            <a:chOff x="6492240" y="1847088"/>
            <a:chExt cx="5394960" cy="4645152"/>
          </a:xfrm>
        </p:grpSpPr>
        <p:sp>
          <p:nvSpPr>
            <p:cNvPr id="14" name="Shape 10"/>
            <p:cNvSpPr/>
            <p:nvPr/>
          </p:nvSpPr>
          <p:spPr>
            <a:xfrm>
              <a:off x="6492240" y="1847088"/>
              <a:ext cx="5394960" cy="10789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5" name="Shape 11"/>
            <p:cNvSpPr/>
            <p:nvPr/>
          </p:nvSpPr>
          <p:spPr>
            <a:xfrm>
              <a:off x="6492240" y="1847088"/>
              <a:ext cx="539496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6" name="Text 12"/>
            <p:cNvSpPr/>
            <p:nvPr/>
          </p:nvSpPr>
          <p:spPr>
            <a:xfrm>
              <a:off x="6656832" y="1956816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9488"/>
                  </a:solidFill>
                </a:rPr>
                <a:t>0.097</a:t>
              </a:r>
              <a:endParaRPr lang="en-US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8119872" y="1987296"/>
              <a:ext cx="3611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Silhouette Score at K=10</a:t>
              </a:r>
            </a:p>
          </p:txBody>
        </p:sp>
        <p:sp>
          <p:nvSpPr>
            <p:cNvPr id="18" name="Text 14"/>
            <p:cNvSpPr/>
            <p:nvPr/>
          </p:nvSpPr>
          <p:spPr>
            <a:xfrm>
              <a:off x="6656832" y="2420112"/>
              <a:ext cx="51206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64748B"/>
                  </a:solidFill>
                </a:rPr>
                <a:t>Modest but valid. All languages share the universal core (/m/,/i/,/k/) making vectors similar. Positive score confirms clusters are geographically real.</a:t>
              </a:r>
            </a:p>
          </p:txBody>
        </p:sp>
        <p:sp>
          <p:nvSpPr>
            <p:cNvPr id="19" name="Shape 15"/>
            <p:cNvSpPr/>
            <p:nvPr/>
          </p:nvSpPr>
          <p:spPr>
            <a:xfrm>
              <a:off x="6492240" y="3035808"/>
              <a:ext cx="5394960" cy="10789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6"/>
            <p:cNvSpPr/>
            <p:nvPr/>
          </p:nvSpPr>
          <p:spPr>
            <a:xfrm>
              <a:off x="6492240" y="3035808"/>
              <a:ext cx="539496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21" name="Text 17"/>
            <p:cNvSpPr/>
            <p:nvPr/>
          </p:nvSpPr>
          <p:spPr>
            <a:xfrm>
              <a:off x="6656832" y="3145536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E05A2B"/>
                  </a:solidFill>
                </a:rPr>
                <a:t>100%</a:t>
              </a:r>
              <a:endParaRPr lang="en-US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8119872" y="3176016"/>
              <a:ext cx="3611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cluster purity Threshold (P₉₅)</a:t>
              </a:r>
            </a:p>
          </p:txBody>
        </p:sp>
        <p:sp>
          <p:nvSpPr>
            <p:cNvPr id="23" name="Text 19"/>
            <p:cNvSpPr/>
            <p:nvPr/>
          </p:nvSpPr>
          <p:spPr>
            <a:xfrm>
              <a:off x="6656832" y="3608832"/>
              <a:ext cx="51206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64748B"/>
                  </a:solidFill>
                </a:rPr>
                <a:t>Cluster 3 = 100% Australian languages. All 237 Australian languages grouped into one cluster without any geographic label — strongest ML result.</a:t>
              </a:r>
            </a:p>
          </p:txBody>
        </p:sp>
        <p:sp>
          <p:nvSpPr>
            <p:cNvPr id="24" name="Shape 20"/>
            <p:cNvSpPr/>
            <p:nvPr/>
          </p:nvSpPr>
          <p:spPr>
            <a:xfrm>
              <a:off x="6492240" y="4224528"/>
              <a:ext cx="5394960" cy="10789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1"/>
            <p:cNvSpPr/>
            <p:nvPr/>
          </p:nvSpPr>
          <p:spPr>
            <a:xfrm>
              <a:off x="6492240" y="4224528"/>
              <a:ext cx="539496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6" name="Text 22"/>
            <p:cNvSpPr/>
            <p:nvPr/>
          </p:nvSpPr>
          <p:spPr>
            <a:xfrm>
              <a:off x="6656832" y="4334256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B8952A"/>
                  </a:solidFill>
                </a:rPr>
                <a:t>0.994</a:t>
              </a:r>
              <a:endParaRPr lang="en-US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8119872" y="4364736"/>
              <a:ext cx="3611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Strongest Implication</a:t>
              </a:r>
            </a:p>
          </p:txBody>
        </p:sp>
        <p:sp>
          <p:nvSpPr>
            <p:cNvPr id="28" name="Text 24"/>
            <p:cNvSpPr/>
            <p:nvPr/>
          </p:nvSpPr>
          <p:spPr>
            <a:xfrm>
              <a:off x="6656832" y="4797552"/>
              <a:ext cx="51206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64748B"/>
                  </a:solidFill>
                </a:rPr>
                <a:t>P(m | ng) = 0.994. Every language with velar nasal /ng/ also has bilabial /m/. Markedness hierarchy: complex sounds imply simpler ones, not vice versa.</a:t>
              </a:r>
            </a:p>
          </p:txBody>
        </p:sp>
        <p:sp>
          <p:nvSpPr>
            <p:cNvPr id="29" name="Shape 25"/>
            <p:cNvSpPr/>
            <p:nvPr/>
          </p:nvSpPr>
          <p:spPr>
            <a:xfrm>
              <a:off x="6492240" y="5413248"/>
              <a:ext cx="5394960" cy="10789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0" name="Shape 26"/>
            <p:cNvSpPr/>
            <p:nvPr/>
          </p:nvSpPr>
          <p:spPr>
            <a:xfrm>
              <a:off x="6492240" y="5413248"/>
              <a:ext cx="5394960" cy="64008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31" name="Text 27"/>
            <p:cNvSpPr/>
            <p:nvPr/>
          </p:nvSpPr>
          <p:spPr>
            <a:xfrm>
              <a:off x="6656832" y="5522976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A2240"/>
                  </a:solidFill>
                </a:rPr>
                <a:t>-0.13 to +0.13</a:t>
              </a:r>
              <a:endParaRPr lang="en-US" dirty="0"/>
            </a:p>
          </p:txBody>
        </p:sp>
        <p:sp>
          <p:nvSpPr>
            <p:cNvPr id="32" name="Text 28"/>
            <p:cNvSpPr/>
            <p:nvPr/>
          </p:nvSpPr>
          <p:spPr>
            <a:xfrm>
              <a:off x="8119872" y="5553456"/>
              <a:ext cx="3611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2240"/>
                  </a:solidFill>
                </a:rPr>
                <a:t>Phi Coefficient Range</a:t>
              </a:r>
            </a:p>
          </p:txBody>
        </p:sp>
        <p:sp>
          <p:nvSpPr>
            <p:cNvPr id="33" name="Text 29"/>
            <p:cNvSpPr/>
            <p:nvPr/>
          </p:nvSpPr>
          <p:spPr>
            <a:xfrm>
              <a:off x="6656832" y="5986272"/>
              <a:ext cx="51206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64748B"/>
                  </a:solidFill>
                </a:rPr>
                <a:t>Avoidance between clicks and tone contours (phi=-0.13) reflects geographic incompatibility — clicks in Africa, tones in East Asia — not direct phoneme repulsion.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5B6C71A-EB0F-C865-8F1F-D508AA14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666489"/>
            <a:ext cx="5852160" cy="195322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3FEAF4E-94CE-C4B1-17C2-E2FCE80CB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43229"/>
            <a:ext cx="5852160" cy="2845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952A"/>
                </a:solidFill>
              </a:rPr>
              <a:t>Wrap 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Summary · Key Learnings · Future Scope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3 Scientific Conclusions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84708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18 phonemes appear in &gt;50% of all 2,176 languages, forming a universal core shaped by articulatory economy and perceptual salience. The distribution is Zipfian.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6243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Click phonemes are absolutely restricted to Africa (0 non-African languages). 64.6% of African languages are tonal vs 0% in Australia — sharpest areal contrast.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0156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dirty="0">
                <a:solidFill>
                  <a:srgbClr val="CBD5E1"/>
                </a:solidFill>
              </a:rPr>
              <a:t>K-Means Clustering (K=10, silhouette=0.097) recovered geographic regions from phoneme data alone. Australian cluster = 100% purity. 139 implicational universals confirmed at scale.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Future Scope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Neural phoneme embeddings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richer articulatory similarity beyond binary presence-absence vectors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Supervised classification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1169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predict macroarea from phoneme profile — quantify geographic predictability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Endangerment data integration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test if smaller phoneme inventories correlate with language loss (Ethnologue)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1169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Expand to all PHOIBLE sources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1169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include non-deduplicated sources for ensemble frequency estimates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220166"/>
            <a:ext cx="1124712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22016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240"/>
                </a:solidFill>
              </a:rPr>
              <a:t>n.nitin@op.iitg.ac.in   ·   Nitin Vijay N  |  23035010571  |  DA378  |  Trimester IX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1339</Words>
  <Application>Microsoft Office PowerPoint</Application>
  <PresentationFormat>Widescreen</PresentationFormat>
  <Paragraphs>201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IndiaClimate</dc:title>
  <dc:subject>PptxGenJS Presentation</dc:subject>
  <dc:creator>Nitin Vijay N</dc:creator>
  <cp:lastModifiedBy>Nitin Vijay N</cp:lastModifiedBy>
  <cp:revision>8</cp:revision>
  <dcterms:created xsi:type="dcterms:W3CDTF">2026-04-20T13:13:05Z</dcterms:created>
  <dcterms:modified xsi:type="dcterms:W3CDTF">2026-07-10T12:54:20Z</dcterms:modified>
</cp:coreProperties>
</file>